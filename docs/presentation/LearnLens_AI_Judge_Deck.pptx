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C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658368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39756D"/>
          </a:solidFill>
          <a:ln>
            <a:solidFill>
              <a:srgbClr val="397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850392"/>
            <a:ext cx="82296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</a:rPr>
              <a:t>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777240"/>
            <a:ext cx="1627632" cy="292608"/>
          </a:xfrm>
          <a:prstGeom prst="roundRect">
            <a:avLst>
              <a:gd name="adj" fmla="val 12000"/>
            </a:avLst>
          </a:prstGeom>
          <a:solidFill>
            <a:srgbClr val="E5F1EA"/>
          </a:solidFill>
          <a:ln>
            <a:solidFill>
              <a:srgbClr val="E5F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92807" y="809244"/>
            <a:ext cx="1499616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900" b="1">
                <a:solidFill>
                  <a:srgbClr val="39756D"/>
                </a:solidFill>
                <a:latin typeface="Aptos"/>
              </a:rPr>
              <a:t>AI FOR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6858000" cy="1371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LearnLens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834640"/>
            <a:ext cx="68580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500" b="0">
                <a:solidFill>
                  <a:srgbClr val="B7D1C7"/>
                </a:solidFill>
                <a:latin typeface="Aptos"/>
              </a:rPr>
              <a:t>From wrong answers
to a clearer next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00600"/>
            <a:ext cx="6035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Diagnose  ·  Verify  ·  Teach  ·  Retest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41848"/>
            <a:ext cx="69494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B7D1C7"/>
                </a:solidFill>
                <a:latin typeface="Aptos"/>
              </a:rPr>
              <a:t>Craft N Code 2026  |  Judge 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005840"/>
            <a:ext cx="3383280" cy="5029200"/>
          </a:xfrm>
          <a:prstGeom prst="roundRect">
            <a:avLst>
              <a:gd name="adj" fmla="val 12000"/>
            </a:avLst>
          </a:prstGeom>
          <a:solidFill>
            <a:srgbClr val="183E3C"/>
          </a:solidFill>
          <a:ln>
            <a:solidFill>
              <a:srgbClr val="183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1325880"/>
            <a:ext cx="265176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B7D1C7"/>
                </a:solidFill>
                <a:latin typeface="Aptos"/>
              </a:rPr>
              <a:t>THE LEARNING LOOP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1920240"/>
            <a:ext cx="1234440" cy="786384"/>
          </a:xfrm>
          <a:prstGeom prst="roundRect">
            <a:avLst>
              <a:gd name="adj" fmla="val 12000"/>
            </a:avLst>
          </a:prstGeom>
          <a:solidFill>
            <a:srgbClr val="39756D"/>
          </a:solidFill>
          <a:ln>
            <a:solidFill>
              <a:srgbClr val="397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31352" y="2002536"/>
            <a:ext cx="10789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B7D1C7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2240280"/>
            <a:ext cx="10789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1920240"/>
            <a:ext cx="1234440" cy="786384"/>
          </a:xfrm>
          <a:prstGeom prst="roundRect">
            <a:avLst>
              <a:gd name="adj" fmla="val 12000"/>
            </a:avLst>
          </a:prstGeom>
          <a:solidFill>
            <a:srgbClr val="103C3B"/>
          </a:solidFill>
          <a:ln>
            <a:solidFill>
              <a:srgbClr val="103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48672" y="2002536"/>
            <a:ext cx="10789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B7D1C7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48672" y="2240280"/>
            <a:ext cx="10789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3063240"/>
            <a:ext cx="1234440" cy="786384"/>
          </a:xfrm>
          <a:prstGeom prst="roundRect">
            <a:avLst>
              <a:gd name="adj" fmla="val 12000"/>
            </a:avLst>
          </a:prstGeom>
          <a:solidFill>
            <a:srgbClr val="103C3B"/>
          </a:solidFill>
          <a:ln>
            <a:solidFill>
              <a:srgbClr val="103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31352" y="3145536"/>
            <a:ext cx="10789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B7D1C7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3383280"/>
            <a:ext cx="10789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Gap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3063240"/>
            <a:ext cx="1234440" cy="786384"/>
          </a:xfrm>
          <a:prstGeom prst="roundRect">
            <a:avLst>
              <a:gd name="adj" fmla="val 12000"/>
            </a:avLst>
          </a:prstGeom>
          <a:solidFill>
            <a:srgbClr val="39756D"/>
          </a:solidFill>
          <a:ln>
            <a:solidFill>
              <a:srgbClr val="397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48672" y="3145536"/>
            <a:ext cx="10789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B7D1C7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48672" y="3383280"/>
            <a:ext cx="10789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4206240"/>
            <a:ext cx="1234440" cy="786384"/>
          </a:xfrm>
          <a:prstGeom prst="roundRect">
            <a:avLst>
              <a:gd name="adj" fmla="val 12000"/>
            </a:avLst>
          </a:prstGeom>
          <a:solidFill>
            <a:srgbClr val="103C3B"/>
          </a:solidFill>
          <a:ln>
            <a:solidFill>
              <a:srgbClr val="103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31352" y="4288536"/>
            <a:ext cx="10789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B7D1C7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4526279"/>
            <a:ext cx="10789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Lesson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0" y="4206240"/>
            <a:ext cx="1234440" cy="786384"/>
          </a:xfrm>
          <a:prstGeom prst="roundRect">
            <a:avLst>
              <a:gd name="adj" fmla="val 12000"/>
            </a:avLst>
          </a:prstGeom>
          <a:solidFill>
            <a:srgbClr val="39756D"/>
          </a:solidFill>
          <a:ln>
            <a:solidFill>
              <a:srgbClr val="397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48672" y="4288536"/>
            <a:ext cx="107899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>
                <a:solidFill>
                  <a:srgbClr val="B7D1C7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8672" y="4526279"/>
            <a:ext cx="107899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Retest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5715000"/>
            <a:ext cx="3200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B7D1C7"/>
                </a:solidFill>
                <a:latin typeface="Aptos"/>
              </a:rPr>
              <a:t>Prototype - pilot evidence pending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A16B2B"/>
                </a:solidFill>
                <a:latin typeface="Aptos"/>
              </a:rP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03C3B"/>
                </a:solidFill>
                <a:latin typeface="Aptos"/>
              </a:rPr>
              <a:t>A score tells you what happened. Not always why.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1746E"/>
                </a:solidFill>
                <a:latin typeface="Aptos"/>
              </a:rPr>
              <a:t>LearnLens targets the moment after a student gets an answer wrong.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474720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85415"/>
            <a:ext cx="3035808" cy="2715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  <a:defRPr sz="1100" b="1">
                <a:solidFill>
                  <a:srgbClr val="A16B2B"/>
                </a:solidFill>
                <a:latin typeface="Aptos"/>
              </a:defRPr>
            </a:pPr>
            <a:r>
              <a:t>FOR STUDENTS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2300" b="1">
                <a:solidFill>
                  <a:srgbClr val="103C3B"/>
                </a:solidFill>
                <a:latin typeface="Aptos"/>
              </a:defRPr>
            </a:pPr>
            <a:r>
              <a:t>“I lost a mark. What idea did I misunderstand?”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61746E"/>
                </a:solidFill>
                <a:latin typeface="Aptos"/>
              </a:defRPr>
            </a:pPr>
            <a:r>
              <a:t>A correction may not show the underlying rule or the next practice step.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965960"/>
            <a:ext cx="3474720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0288" y="2185415"/>
            <a:ext cx="3035808" cy="2715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  <a:defRPr sz="1100" b="1">
                <a:solidFill>
                  <a:srgbClr val="A16B2B"/>
                </a:solidFill>
                <a:latin typeface="Aptos"/>
              </a:defRPr>
            </a:pPr>
            <a:r>
              <a:t>FOR TEACHERS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2300" b="1">
                <a:solidFill>
                  <a:srgbClr val="103C3B"/>
                </a:solidFill>
                <a:latin typeface="Aptos"/>
              </a:defRPr>
            </a:pPr>
            <a:r>
              <a:t>“Which misconception should I reteach first?”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61746E"/>
                </a:solidFill>
                <a:latin typeface="Aptos"/>
              </a:defRPr>
            </a:pPr>
            <a:r>
              <a:t>Repeated class patterns need a quick, reviewable way to guide a short intervention.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3" y="1965960"/>
            <a:ext cx="3429000" cy="3154680"/>
          </a:xfrm>
          <a:prstGeom prst="roundRect">
            <a:avLst>
              <a:gd name="adj" fmla="val 12000"/>
            </a:avLst>
          </a:prstGeom>
          <a:solidFill>
            <a:srgbClr val="EDF5EF"/>
          </a:solidFill>
          <a:ln>
            <a:solidFill>
              <a:srgbClr val="ED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185415"/>
            <a:ext cx="2990088" cy="27157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  <a:defRPr sz="1100" b="1">
                <a:solidFill>
                  <a:srgbClr val="39756D"/>
                </a:solidFill>
                <a:latin typeface="Aptos"/>
              </a:defRPr>
            </a:pPr>
            <a:r>
              <a:t>THE PRODUCT IDEA</a:t>
            </a:r>
          </a:p>
          <a:p>
            <a:pPr>
              <a:spcBef>
                <a:spcPts val="0"/>
              </a:spcBef>
              <a:spcAft>
                <a:spcPts val="1600"/>
              </a:spcAft>
              <a:defRPr sz="2300" b="1">
                <a:solidFill>
                  <a:srgbClr val="103C3B"/>
                </a:solidFill>
                <a:latin typeface="Aptos"/>
              </a:defRPr>
            </a:pPr>
            <a:r>
              <a:t>Turn work into a learning loop.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61746E"/>
                </a:solidFill>
                <a:latin typeface="Aptos"/>
              </a:defRPr>
            </a:pPr>
            <a:r>
              <a:t>Evidence → a tentative gap → verification → a targeted lesson → a spaced retest.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486400"/>
            <a:ext cx="1078992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1746E"/>
                </a:solidFill>
                <a:latin typeface="Aptos"/>
              </a:rPr>
              <a:t>Designed for students and teachers; not a replacement for teacher judgement or formal grading.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BE4DC"/>
          </a:solidFill>
          <a:ln>
            <a:solidFill>
              <a:srgbClr val="DB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565392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758580"/>
                </a:solidFill>
                <a:latin typeface="Aptos"/>
              </a:rPr>
              <a:t>LEARNLENS AI  |  HACKATHON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565392"/>
            <a:ext cx="457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7585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A16B2B"/>
                </a:solidFill>
                <a:latin typeface="Aptos"/>
              </a:rPr>
              <a:t>02 /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03C3B"/>
                </a:solidFill>
                <a:latin typeface="Aptos"/>
              </a:rPr>
              <a:t>A repeatable path from evidence to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1746E"/>
                </a:solidFill>
                <a:latin typeface="Aptos"/>
              </a:rPr>
              <a:t>The diagnosis is a hypothesis. A fresh question checks whether it is useful.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423160"/>
            <a:ext cx="1170432" cy="1051560"/>
          </a:xfrm>
          <a:prstGeom prst="roundRect">
            <a:avLst>
              <a:gd name="adj" fmla="val 12000"/>
            </a:avLst>
          </a:prstGeom>
          <a:solidFill>
            <a:srgbClr val="103C3B"/>
          </a:solidFill>
          <a:ln>
            <a:solidFill>
              <a:srgbClr val="103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532888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A16B2B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816352"/>
            <a:ext cx="10789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Upload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7" y="3657600"/>
            <a:ext cx="144475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61746E"/>
                </a:solidFill>
                <a:latin typeface="Aptos"/>
              </a:rPr>
              <a:t>PDF / image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56232" y="2953512"/>
            <a:ext cx="411480" cy="0"/>
          </a:xfrm>
          <a:prstGeom prst="line">
            <a:avLst/>
          </a:prstGeom>
          <a:ln w="19050">
            <a:solidFill>
              <a:srgbClr val="3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04288" y="2423160"/>
            <a:ext cx="1170432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532888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39756D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2816352"/>
            <a:ext cx="10789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3C3B"/>
                </a:solidFill>
                <a:latin typeface="Aptos"/>
              </a:rPr>
              <a:t>Find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7128" y="3657600"/>
            <a:ext cx="144475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61746E"/>
                </a:solidFill>
                <a:latin typeface="Aptos"/>
              </a:rPr>
              <a:t>Tags + evidence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02152" y="2953512"/>
            <a:ext cx="411480" cy="0"/>
          </a:xfrm>
          <a:prstGeom prst="line">
            <a:avLst/>
          </a:prstGeom>
          <a:ln w="19050">
            <a:solidFill>
              <a:srgbClr val="3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950208" y="2423160"/>
            <a:ext cx="1170432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2532888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39756D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2816352"/>
            <a:ext cx="10789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3C3B"/>
                </a:solidFill>
                <a:latin typeface="Aptos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3657600"/>
            <a:ext cx="144475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61746E"/>
                </a:solidFill>
                <a:latin typeface="Aptos"/>
              </a:rPr>
              <a:t>Fresh questions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48072" y="2953512"/>
            <a:ext cx="411480" cy="0"/>
          </a:xfrm>
          <a:prstGeom prst="line">
            <a:avLst/>
          </a:prstGeom>
          <a:ln w="19050">
            <a:solidFill>
              <a:srgbClr val="3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596128" y="2423160"/>
            <a:ext cx="1170432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2532888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39756D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1848" y="2816352"/>
            <a:ext cx="10789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3C3B"/>
                </a:solidFill>
                <a:latin typeface="Aptos"/>
              </a:rPr>
              <a:t>Teach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8968" y="3657600"/>
            <a:ext cx="144475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61746E"/>
                </a:solidFill>
                <a:latin typeface="Aptos"/>
              </a:rPr>
              <a:t>Retrieved notes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93992" y="2953512"/>
            <a:ext cx="411480" cy="0"/>
          </a:xfrm>
          <a:prstGeom prst="line">
            <a:avLst/>
          </a:prstGeom>
          <a:ln w="19050">
            <a:solidFill>
              <a:srgbClr val="3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242048" y="2423160"/>
            <a:ext cx="1170432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2532888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39756D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7768" y="2816352"/>
            <a:ext cx="10789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3C3B"/>
                </a:solidFill>
                <a:latin typeface="Aptos"/>
              </a:rPr>
              <a:t>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4888" y="3657600"/>
            <a:ext cx="144475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61746E"/>
                </a:solidFill>
                <a:latin typeface="Aptos"/>
              </a:rPr>
              <a:t>New variation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39912" y="2953512"/>
            <a:ext cx="411480" cy="0"/>
          </a:xfrm>
          <a:prstGeom prst="line">
            <a:avLst/>
          </a:prstGeom>
          <a:ln w="19050">
            <a:solidFill>
              <a:srgbClr val="3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887968" y="2423160"/>
            <a:ext cx="1170432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0" y="2532888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39756D"/>
                </a:solidFill>
                <a:latin typeface="Apto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33688" y="2816352"/>
            <a:ext cx="10789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3C3B"/>
                </a:solidFill>
                <a:latin typeface="Aptos"/>
              </a:rPr>
              <a:t>Retest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808" y="3657600"/>
            <a:ext cx="144475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61746E"/>
                </a:solidFill>
                <a:latin typeface="Aptos"/>
              </a:rPr>
              <a:t>After 24 hours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085832" y="2953512"/>
            <a:ext cx="411480" cy="0"/>
          </a:xfrm>
          <a:prstGeom prst="line">
            <a:avLst/>
          </a:prstGeom>
          <a:ln w="19050">
            <a:solidFill>
              <a:srgbClr val="3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533888" y="2423160"/>
            <a:ext cx="1170432" cy="1051560"/>
          </a:xfrm>
          <a:prstGeom prst="roundRect">
            <a:avLst>
              <a:gd name="adj" fmla="val 12000"/>
            </a:avLst>
          </a:prstGeom>
          <a:solidFill>
            <a:srgbClr val="103C3B"/>
          </a:solidFill>
          <a:ln>
            <a:solidFill>
              <a:srgbClr val="103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07040" y="2532888"/>
            <a:ext cx="1005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A16B2B"/>
                </a:solidFill>
                <a:latin typeface="Aptos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79608" y="2816352"/>
            <a:ext cx="10789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Confirm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96728" y="3657600"/>
            <a:ext cx="1444752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61746E"/>
                </a:solidFill>
                <a:latin typeface="Aptos"/>
              </a:rPr>
              <a:t>Provisional → confirmed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" y="4663440"/>
            <a:ext cx="10241280" cy="86868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>
            <a:solidFill>
              <a:srgbClr val="FFF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4882896"/>
            <a:ext cx="978408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1">
                <a:solidFill>
                  <a:srgbClr val="A16B2B"/>
                </a:solidFill>
                <a:latin typeface="Aptos"/>
              </a:rPr>
              <a:t>One correct answer is not enough to confirm mastery. A successful retest must be due; early retests stay provisional.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BE4DC"/>
          </a:solidFill>
          <a:ln>
            <a:solidFill>
              <a:srgbClr val="DB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6565392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758580"/>
                </a:solidFill>
                <a:latin typeface="Aptos"/>
              </a:rPr>
              <a:t>LEARNLENS AI  |  HACKATHON DEMO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18520" y="6565392"/>
            <a:ext cx="457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7585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A16B2B"/>
                </a:solidFill>
                <a:latin typeface="Aptos"/>
              </a:rPr>
              <a:t>03 /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03C3B"/>
                </a:solidFill>
                <a:latin typeface="Aptos"/>
              </a:rPr>
              <a:t>A small architecture designed to degrade clearly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1746E"/>
                </a:solidFill>
                <a:latin typeface="Aptos"/>
              </a:rPr>
              <a:t>Core retrieval and deterministic fallback can run locally; external AI and persistence are optional.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468880" cy="3063240"/>
          </a:xfrm>
          <a:prstGeom prst="roundRect">
            <a:avLst>
              <a:gd name="adj" fmla="val 12000"/>
            </a:avLst>
          </a:prstGeom>
          <a:solidFill>
            <a:srgbClr val="EDF5EF"/>
          </a:solidFill>
          <a:ln>
            <a:solidFill>
              <a:srgbClr val="ED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2240280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9756D"/>
                </a:solidFill>
                <a:latin typeface="Aptos"/>
              </a:rPr>
              <a:t>STUDENT + TEACHER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587752"/>
            <a:ext cx="210312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3C3B"/>
                </a:solidFill>
                <a:latin typeface="Aptos"/>
              </a:rPr>
              <a:t>Next.js /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5" y="3108960"/>
            <a:ext cx="213055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1746E"/>
                </a:solidFill>
                <a:latin typeface="Aptos"/>
              </a:rPr>
              <a:t>• Join by nickname + consent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" y="3602736"/>
            <a:ext cx="213055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1746E"/>
                </a:solidFill>
                <a:latin typeface="Aptos"/>
              </a:rPr>
              <a:t>• Learning loop / read-aloud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" y="4096512"/>
            <a:ext cx="213055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1746E"/>
                </a:solidFill>
                <a:latin typeface="Aptos"/>
              </a:rPr>
              <a:t>• Heatmap / CSV / reteach draft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011680"/>
            <a:ext cx="246888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67911" y="2240280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A16B2B"/>
                </a:solidFill>
                <a:latin typeface="Aptos"/>
              </a:rPr>
              <a:t>LEARNING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1" y="2587752"/>
            <a:ext cx="210312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3C3B"/>
                </a:solidFill>
                <a:latin typeface="Aptos"/>
              </a:rPr>
              <a:t>FastAPI / Pydantic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77056" y="3108960"/>
            <a:ext cx="213055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1746E"/>
                </a:solidFill>
                <a:latin typeface="Aptos"/>
              </a:rPr>
              <a:t>• Work extraction + diagnosis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7056" y="3602736"/>
            <a:ext cx="213055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1746E"/>
                </a:solidFill>
                <a:latin typeface="Aptos"/>
              </a:rPr>
              <a:t>• Misconception taxonomy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056" y="4096512"/>
            <a:ext cx="213055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1746E"/>
                </a:solidFill>
                <a:latin typeface="Aptos"/>
              </a:rPr>
              <a:t>• Spaced mastery + deletion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2011680"/>
            <a:ext cx="2468880" cy="3063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31152" y="2240280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A16B2B"/>
                </a:solidFill>
                <a:latin typeface="Aptos"/>
              </a:rPr>
              <a:t>CONTENT + RETRIEVAL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2587752"/>
            <a:ext cx="210312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3C3B"/>
                </a:solidFill>
                <a:latin typeface="Aptos"/>
              </a:rPr>
              <a:t>45 notes / 22 tags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0296" y="3108960"/>
            <a:ext cx="213055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1746E"/>
                </a:solidFill>
                <a:latin typeface="Aptos"/>
              </a:rPr>
              <a:t>• Local BM25-style 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602736"/>
            <a:ext cx="213055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1746E"/>
                </a:solidFill>
                <a:latin typeface="Aptos"/>
              </a:rPr>
              <a:t>• Source IDs + snippets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4096512"/>
            <a:ext cx="213055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1746E"/>
                </a:solidFill>
                <a:latin typeface="Aptos"/>
              </a:rPr>
              <a:t>• No embedding API needed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011680"/>
            <a:ext cx="2468880" cy="306324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>
            <a:solidFill>
              <a:srgbClr val="FFF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2240280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A16B2B"/>
                </a:solidFill>
                <a:latin typeface="Aptos"/>
              </a:rPr>
              <a:t>OPTIONAL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2587752"/>
            <a:ext cx="210312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103C3B"/>
                </a:solidFill>
                <a:latin typeface="Aptos"/>
              </a:rPr>
              <a:t>Server-side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17736" y="3108960"/>
            <a:ext cx="213055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1746E"/>
                </a:solidFill>
                <a:latin typeface="Aptos"/>
              </a:rPr>
              <a:t>• OpenRouter free route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7736" y="3602736"/>
            <a:ext cx="213055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1746E"/>
                </a:solidFill>
                <a:latin typeface="Aptos"/>
              </a:rPr>
              <a:t>• Gemini optional fallback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7736" y="4096512"/>
            <a:ext cx="213055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1746E"/>
                </a:solidFill>
                <a:latin typeface="Aptos"/>
              </a:rPr>
              <a:t>• Supabase + SQLite cache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127248" y="3383280"/>
            <a:ext cx="438912" cy="0"/>
          </a:xfrm>
          <a:prstGeom prst="line">
            <a:avLst/>
          </a:prstGeom>
          <a:ln w="19050">
            <a:solidFill>
              <a:srgbClr val="3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190488" y="3383280"/>
            <a:ext cx="438912" cy="0"/>
          </a:xfrm>
          <a:prstGeom prst="line">
            <a:avLst/>
          </a:prstGeom>
          <a:ln w="19050">
            <a:solidFill>
              <a:srgbClr val="3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942832" y="3383280"/>
            <a:ext cx="438912" cy="0"/>
          </a:xfrm>
          <a:prstGeom prst="line">
            <a:avLst/>
          </a:prstGeom>
          <a:ln w="19050">
            <a:solidFill>
              <a:srgbClr val="3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3232" y="5486400"/>
            <a:ext cx="106070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39756D"/>
                </a:solidFill>
                <a:latin typeface="Aptos"/>
              </a:rPr>
              <a:t>Secrets remain on the server. No live API or database credentials are included in this package.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BE4DC"/>
          </a:solidFill>
          <a:ln>
            <a:solidFill>
              <a:srgbClr val="DB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6565392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758580"/>
                </a:solidFill>
                <a:latin typeface="Aptos"/>
              </a:rPr>
              <a:t>LEARNLENS AI  |  HACKATHON 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565392"/>
            <a:ext cx="457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7585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A16B2B"/>
                </a:solidFill>
                <a:latin typeface="Aptos"/>
              </a:rPr>
              <a:t>04 / WHAT IS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03C3B"/>
                </a:solidFill>
                <a:latin typeface="Aptos"/>
              </a:rPr>
              <a:t>Features that judges can click 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1746E"/>
                </a:solidFill>
                <a:latin typeface="Aptos"/>
              </a:rPr>
              <a:t>Implementation status is not the same as evidence of learning impact.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52578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7" y="207568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E5F1EA"/>
          </a:solidFill>
          <a:ln>
            <a:solidFill>
              <a:srgbClr val="E5F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185415"/>
            <a:ext cx="49377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39756D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2093976"/>
            <a:ext cx="4069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03C3B"/>
                </a:solidFill>
                <a:latin typeface="Aptos"/>
              </a:rPr>
              <a:t>Misconception diagnosis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2514600"/>
            <a:ext cx="40690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1746E"/>
                </a:solidFill>
                <a:latin typeface="Aptos"/>
              </a:rPr>
              <a:t>22 taxonomy tags, rule fallback and a verification step.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2578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46520" y="207568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E5F1EA"/>
          </a:solidFill>
          <a:ln>
            <a:solidFill>
              <a:srgbClr val="E5F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2185415"/>
            <a:ext cx="49377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39756D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093976"/>
            <a:ext cx="4069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03C3B"/>
                </a:solidFill>
                <a:latin typeface="Aptos"/>
              </a:rPr>
              <a:t>Grounded lessons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514600"/>
            <a:ext cx="40690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1746E"/>
                </a:solidFill>
                <a:latin typeface="Aptos"/>
              </a:rPr>
              <a:t>45 bundled notes; source IDs/snippets shown; English/Kannada/Hindi options.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794760"/>
            <a:ext cx="52578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7" y="399592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E5F1EA"/>
          </a:solidFill>
          <a:ln>
            <a:solidFill>
              <a:srgbClr val="E5F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105656"/>
            <a:ext cx="49377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39756D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4014216"/>
            <a:ext cx="4069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03C3B"/>
                </a:solidFill>
                <a:latin typeface="Aptos"/>
              </a:rPr>
              <a:t>Spaced mastery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4434840"/>
            <a:ext cx="40690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1746E"/>
                </a:solidFill>
                <a:latin typeface="Aptos"/>
              </a:rPr>
              <a:t>BKT-inspired probability, 14-day half-life and delayed retest gate.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94760"/>
            <a:ext cx="52578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46520" y="3995928"/>
            <a:ext cx="530352" cy="530352"/>
          </a:xfrm>
          <a:prstGeom prst="roundRect">
            <a:avLst>
              <a:gd name="adj" fmla="val 12000"/>
            </a:avLst>
          </a:prstGeom>
          <a:solidFill>
            <a:srgbClr val="E5F1EA"/>
          </a:solidFill>
          <a:ln>
            <a:solidFill>
              <a:srgbClr val="E5F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4105656"/>
            <a:ext cx="493776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39756D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014216"/>
            <a:ext cx="40690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03C3B"/>
                </a:solidFill>
                <a:latin typeface="Aptos"/>
              </a:rPr>
              <a:t>Teacher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434840"/>
            <a:ext cx="40690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61746E"/>
                </a:solidFill>
                <a:latin typeface="Aptos"/>
              </a:rPr>
              <a:t>Student × concept heatmap, top three tag patterns, 10-minute plan and CSV export.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806440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A4473A"/>
                </a:solidFill>
                <a:latin typeface="Aptos"/>
              </a:rPr>
              <a:t>All diagnosis, translation and reteach suggestions need teacher review; mastery must not be used as an official grade.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BE4DC"/>
          </a:solidFill>
          <a:ln>
            <a:solidFill>
              <a:srgbClr val="DB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6565392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758580"/>
                </a:solidFill>
                <a:latin typeface="Aptos"/>
              </a:rPr>
              <a:t>LEARNLENS AI  |  HACKATHON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65392"/>
            <a:ext cx="457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7585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A16B2B"/>
                </a:solidFill>
                <a:latin typeface="Aptos"/>
              </a:rPr>
              <a:t>05 / TRUSTWORTHY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03C3B"/>
                </a:solidFill>
                <a:latin typeface="Aptos"/>
              </a:rPr>
              <a:t>Make the system explain where its help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1746E"/>
                </a:solidFill>
                <a:latin typeface="Aptos"/>
              </a:rPr>
              <a:t>This is real local lexical retrieval over bundled notes, not a claim that a vector database is currently running.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28600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103C3B"/>
          </a:solidFill>
          <a:ln>
            <a:solidFill>
              <a:srgbClr val="103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2487168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Student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834640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B7D1C7"/>
                </a:solidFill>
                <a:latin typeface="Aptos"/>
              </a:rPr>
              <a:t>Question + answer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2852928"/>
            <a:ext cx="310896" cy="0"/>
          </a:xfrm>
          <a:prstGeom prst="line">
            <a:avLst/>
          </a:prstGeom>
          <a:ln w="19050">
            <a:solidFill>
              <a:srgbClr val="3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228600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2487168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3C3B"/>
                </a:solidFill>
                <a:latin typeface="Aptos"/>
              </a:rPr>
              <a:t>Tag/rank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834640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61746E"/>
                </a:solidFill>
                <a:latin typeface="Aptos"/>
              </a:rPr>
              <a:t>Rules + local BM25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73168" y="2852928"/>
            <a:ext cx="310896" cy="0"/>
          </a:xfrm>
          <a:prstGeom prst="line">
            <a:avLst/>
          </a:prstGeom>
          <a:ln w="19050">
            <a:solidFill>
              <a:srgbClr val="3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38928" y="228600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2487168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3C3B"/>
                </a:solidFill>
                <a:latin typeface="Aptos"/>
              </a:rPr>
              <a:t>Retrieved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834640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61746E"/>
                </a:solidFill>
                <a:latin typeface="Aptos"/>
              </a:rPr>
              <a:t>IDs + snippets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86016" y="2852928"/>
            <a:ext cx="310896" cy="0"/>
          </a:xfrm>
          <a:prstGeom prst="line">
            <a:avLst/>
          </a:prstGeom>
          <a:ln w="19050">
            <a:solidFill>
              <a:srgbClr val="3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51775" y="228600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B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5" y="2487168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03C3B"/>
                </a:solidFill>
                <a:latin typeface="Aptos"/>
              </a:rPr>
              <a:t>AI (optional)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5" y="2834640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61746E"/>
                </a:solidFill>
                <a:latin typeface="Aptos"/>
              </a:rPr>
              <a:t>Provider A → 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8863" y="2852928"/>
            <a:ext cx="310897" cy="0"/>
          </a:xfrm>
          <a:prstGeom prst="line">
            <a:avLst/>
          </a:prstGeom>
          <a:ln w="19050">
            <a:solidFill>
              <a:srgbClr val="3975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64624" y="228600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103C3B"/>
          </a:solidFill>
          <a:ln>
            <a:solidFill>
              <a:srgbClr val="103C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6064" y="2487168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Learning 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6064" y="2834640"/>
            <a:ext cx="1645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B7D1C7"/>
                </a:solidFill>
                <a:latin typeface="Aptos"/>
              </a:rPr>
              <a:t>Reviewable draft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041648"/>
            <a:ext cx="3401568" cy="1216152"/>
          </a:xfrm>
          <a:prstGeom prst="roundRect">
            <a:avLst>
              <a:gd name="adj" fmla="val 12000"/>
            </a:avLst>
          </a:prstGeom>
          <a:solidFill>
            <a:srgbClr val="EDF5EF"/>
          </a:solidFill>
          <a:ln>
            <a:solidFill>
              <a:srgbClr val="ED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197096"/>
            <a:ext cx="3090672" cy="9052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103C3B"/>
                </a:solidFill>
                <a:latin typeface="Aptos"/>
              </a:defRPr>
            </a:pPr>
            <a:r>
              <a:t>Fallback, not fake certainty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61746E"/>
                </a:solidFill>
                <a:latin typeface="Aptos"/>
              </a:defRPr>
            </a:pPr>
            <a:r>
              <a:t>Unsupported offline topics return a clear availability warning.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4041648"/>
            <a:ext cx="3401568" cy="1216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44568" y="4197096"/>
            <a:ext cx="3090672" cy="9052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103C3B"/>
                </a:solidFill>
                <a:latin typeface="Aptos"/>
              </a:defRPr>
            </a:pPr>
            <a:r>
              <a:t>Fingerprint cache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61746E"/>
                </a:solidFill>
                <a:latin typeface="Aptos"/>
              </a:defRPr>
            </a:pPr>
            <a:r>
              <a:t>Results are scoped to the student profile; deletion attempts to purge the profile cache.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041648"/>
            <a:ext cx="3401568" cy="12161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02168" y="4197096"/>
            <a:ext cx="3090672" cy="9052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  <a:defRPr sz="1400" b="1">
                <a:solidFill>
                  <a:srgbClr val="103C3B"/>
                </a:solidFill>
                <a:latin typeface="Aptos"/>
              </a:defRPr>
            </a:pPr>
            <a:r>
              <a:t>Visible provenance</a:t>
            </a:r>
          </a:p>
          <a:p>
            <a:pPr>
              <a:spcBef>
                <a:spcPts val="0"/>
              </a:spcBef>
              <a:spcAft>
                <a:spcPts val="800"/>
              </a:spcAft>
              <a:defRPr sz="1100" b="0">
                <a:solidFill>
                  <a:srgbClr val="61746E"/>
                </a:solidFill>
                <a:latin typeface="Aptos"/>
              </a:defRPr>
            </a:pPr>
            <a:r>
              <a:t>Provider/cache status and retrieved note sources are inspectable in the app/API.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50992"/>
            <a:ext cx="10607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A16B2B"/>
                </a:solidFill>
                <a:latin typeface="Aptos"/>
              </a:rPr>
              <a:t>Library: 32 original notes + 13 AI-assisted drafts pending team/educator review; none are independently validated.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BE4DC"/>
          </a:solidFill>
          <a:ln>
            <a:solidFill>
              <a:srgbClr val="DB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6565392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758580"/>
                </a:solidFill>
                <a:latin typeface="Aptos"/>
              </a:rPr>
              <a:t>LEARNLENS AI  |  HACKATHON DEMO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565392"/>
            <a:ext cx="457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7585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A16B2B"/>
                </a:solidFill>
                <a:latin typeface="Aptos"/>
              </a:rPr>
              <a:t>06 / RESPONSIBILITY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103C3B"/>
                </a:solidFill>
                <a:latin typeface="Aptos"/>
              </a:rPr>
              <a:t>We separate a working demo from a validated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1746E"/>
                </a:solidFill>
                <a:latin typeface="Aptos"/>
              </a:rPr>
              <a:t>No surveys, pilot results, accuracy benchmark or before/after improvement numbers are invented.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212080" cy="3520440"/>
          </a:xfrm>
          <a:prstGeom prst="roundRect">
            <a:avLst>
              <a:gd name="adj" fmla="val 12000"/>
            </a:avLst>
          </a:prstGeom>
          <a:solidFill>
            <a:srgbClr val="EDF5EF"/>
          </a:solidFill>
          <a:ln>
            <a:solidFill>
              <a:srgbClr val="EDF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572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39756D"/>
                </a:solidFill>
                <a:latin typeface="Aptos"/>
              </a:rPr>
              <a:t>DESIGNED INTO THIS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70048"/>
            <a:ext cx="45537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03C3B"/>
                </a:solidFill>
                <a:latin typeface="Aptos"/>
              </a:rPr>
              <a:t>✓  Nickname-only class join; no student email/password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81528"/>
            <a:ext cx="45537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03C3B"/>
                </a:solidFill>
                <a:latin typeface="Aptos"/>
              </a:rPr>
              <a:t>✓  Consent before class membership is created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93008"/>
            <a:ext cx="45537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03C3B"/>
                </a:solidFill>
                <a:latin typeface="Aptos"/>
              </a:rPr>
              <a:t>✓  Privacy page: clear browser profile + request backend/cache deletion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04487"/>
            <a:ext cx="45537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03C3B"/>
                </a:solidFill>
                <a:latin typeface="Aptos"/>
              </a:rPr>
              <a:t>✓  Teacher key generated randomly; created key stored hashed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15968"/>
            <a:ext cx="45537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03C3B"/>
                </a:solidFill>
                <a:latin typeface="Aptos"/>
              </a:rPr>
              <a:t>✓  Provisional mastery and explicit human-review caveat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27448"/>
            <a:ext cx="455371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03C3B"/>
                </a:solidFill>
                <a:latin typeface="Aptos"/>
              </a:rPr>
              <a:t>✓  Synthetic heatmap and worksheet labeled as synthetic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74519"/>
            <a:ext cx="5303520" cy="352044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>
            <a:solidFill>
              <a:srgbClr val="FFF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148840"/>
            <a:ext cx="47091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A16B2B"/>
                </a:solidFill>
                <a:latin typeface="Aptos"/>
              </a:rPr>
              <a:t>PENDING BEFORE IMPACT CLAIMS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70048"/>
            <a:ext cx="4572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03C3B"/>
                </a:solidFill>
                <a:latin typeface="Aptos"/>
              </a:rPr>
              <a:t>○  Student survey + teacher interviews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81528"/>
            <a:ext cx="4572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03C3B"/>
                </a:solidFill>
                <a:latin typeface="Aptos"/>
              </a:rPr>
              <a:t>○  15–20 human-labelled worksheets; inter-rater agreement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493008"/>
            <a:ext cx="4572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03C3B"/>
                </a:solidFill>
                <a:latin typeface="Aptos"/>
              </a:rPr>
              <a:t>○  Provider latency, cache hit and failure-rate logging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904487"/>
            <a:ext cx="4572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03C3B"/>
                </a:solidFill>
                <a:latin typeface="Aptos"/>
              </a:rPr>
              <a:t>○  Paired pre/post test + delayed retest follow-up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315968"/>
            <a:ext cx="4572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03C3B"/>
                </a:solidFill>
                <a:latin typeface="Aptos"/>
              </a:rPr>
              <a:t>○  Hindi/Kannada review with fluent speakers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727448"/>
            <a:ext cx="45720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103C3B"/>
                </a:solidFill>
                <a:latin typeface="Aptos"/>
              </a:rPr>
              <a:t>○  Production security and deletion 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715000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A4473A"/>
                </a:solidFill>
                <a:latin typeface="Aptos"/>
              </a:rPr>
              <a:t>A demo fixture is useful for QA; it is not a real student, a pilot, or a learning outcome.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BE4DC"/>
          </a:solidFill>
          <a:ln>
            <a:solidFill>
              <a:srgbClr val="DB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6565392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758580"/>
                </a:solidFill>
                <a:latin typeface="Aptos"/>
              </a:rPr>
              <a:t>LEARNLENS AI  |  HACKATHON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565392"/>
            <a:ext cx="457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7585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3C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058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7D1C7"/>
                </a:solidFill>
                <a:latin typeface="Aptos"/>
              </a:rPr>
              <a:t>07 / JUDGE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515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See the loop. Challenge the assumptions.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57400"/>
            <a:ext cx="3337560" cy="1161288"/>
          </a:xfrm>
          <a:prstGeom prst="roundRect">
            <a:avLst>
              <a:gd name="adj" fmla="val 12000"/>
            </a:avLst>
          </a:prstGeom>
          <a:solidFill>
            <a:srgbClr val="183E3C"/>
          </a:solidFill>
          <a:ln>
            <a:solidFill>
              <a:srgbClr val="183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203704"/>
            <a:ext cx="429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7D1C7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35607" y="2167128"/>
            <a:ext cx="23957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Join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2560320"/>
            <a:ext cx="24231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B7D1C7"/>
                </a:solidFill>
                <a:latin typeface="Aptos"/>
              </a:rPr>
              <a:t>Blue Falcon · CSE-A · consent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2057400"/>
            <a:ext cx="3337560" cy="1161288"/>
          </a:xfrm>
          <a:prstGeom prst="roundRect">
            <a:avLst>
              <a:gd name="adj" fmla="val 12000"/>
            </a:avLst>
          </a:prstGeom>
          <a:solidFill>
            <a:srgbClr val="183E3C"/>
          </a:solidFill>
          <a:ln>
            <a:solidFill>
              <a:srgbClr val="183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1" y="2203704"/>
            <a:ext cx="429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7D1C7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4647" y="2167128"/>
            <a:ext cx="23957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4647" y="2560320"/>
            <a:ext cx="24231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B7D1C7"/>
                </a:solidFill>
                <a:latin typeface="Aptos"/>
              </a:rPr>
              <a:t>Use the clearly synthetic PDF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19" y="2057400"/>
            <a:ext cx="3337560" cy="1161288"/>
          </a:xfrm>
          <a:prstGeom prst="roundRect">
            <a:avLst>
              <a:gd name="adj" fmla="val 12000"/>
            </a:avLst>
          </a:prstGeom>
          <a:solidFill>
            <a:srgbClr val="183E3C"/>
          </a:solidFill>
          <a:ln>
            <a:solidFill>
              <a:srgbClr val="183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1" y="2203704"/>
            <a:ext cx="429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7D1C7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33688" y="2167128"/>
            <a:ext cx="23957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2560320"/>
            <a:ext cx="24231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B7D1C7"/>
                </a:solidFill>
                <a:latin typeface="Aptos"/>
              </a:rPr>
              <a:t>Check note IDs, change language, read aloud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566160"/>
            <a:ext cx="3337560" cy="1161288"/>
          </a:xfrm>
          <a:prstGeom prst="roundRect">
            <a:avLst>
              <a:gd name="adj" fmla="val 12000"/>
            </a:avLst>
          </a:prstGeom>
          <a:solidFill>
            <a:srgbClr val="183E3C"/>
          </a:solidFill>
          <a:ln>
            <a:solidFill>
              <a:srgbClr val="183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712463"/>
            <a:ext cx="429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7D1C7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7" y="3675887"/>
            <a:ext cx="23957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Retest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5607" y="4069080"/>
            <a:ext cx="24231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B7D1C7"/>
                </a:solidFill>
                <a:latin typeface="Aptos"/>
              </a:rPr>
              <a:t>Show provisional state; explain 24-hour gate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79" y="3566160"/>
            <a:ext cx="3337560" cy="1161288"/>
          </a:xfrm>
          <a:prstGeom prst="roundRect">
            <a:avLst>
              <a:gd name="adj" fmla="val 12000"/>
            </a:avLst>
          </a:prstGeom>
          <a:solidFill>
            <a:srgbClr val="183E3C"/>
          </a:solidFill>
          <a:ln>
            <a:solidFill>
              <a:srgbClr val="183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1" y="3712463"/>
            <a:ext cx="429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B7D1C7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4647" y="3675887"/>
            <a:ext cx="2395728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Teach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84647" y="4069080"/>
            <a:ext cx="242316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B7D1C7"/>
                </a:solidFill>
                <a:latin typeface="Aptos"/>
              </a:rPr>
              <a:t>Heatmap, top tags, plan draft and CSV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257800"/>
            <a:ext cx="10744200" cy="694944"/>
          </a:xfrm>
          <a:prstGeom prst="roundRect">
            <a:avLst>
              <a:gd name="adj" fmla="val 12000"/>
            </a:avLst>
          </a:prstGeom>
          <a:solidFill>
            <a:srgbClr val="39756D"/>
          </a:solidFill>
          <a:ln>
            <a:solidFill>
              <a:srgbClr val="397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440680"/>
            <a:ext cx="103327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Next milestone: approved pilot + independently labelled worksheets + production privacy review.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53912"/>
            <a:ext cx="10515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B7D1C7"/>
                </a:solidFill>
                <a:latin typeface="Aptos"/>
              </a:rPr>
              <a:t>LearnLens AI  |  Prototype status and all evidence limitations are documented in README.md / docs/evidence.md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9672"/>
            <a:ext cx="10972800" cy="10972"/>
          </a:xfrm>
          <a:prstGeom prst="rect">
            <a:avLst/>
          </a:prstGeom>
          <a:solidFill>
            <a:srgbClr val="DBE4DC"/>
          </a:solidFill>
          <a:ln>
            <a:solidFill>
              <a:srgbClr val="DB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6565392"/>
            <a:ext cx="54864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758580"/>
                </a:solidFill>
                <a:latin typeface="Aptos"/>
              </a:rPr>
              <a:t>LEARNLENS AI  |  HACKATHON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565392"/>
            <a:ext cx="457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1">
                <a:solidFill>
                  <a:srgbClr val="7585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LearnLens AI - Hackathon Judge Deck</dc:title>
  <dc:subject>Adaptive learning prototype, implementation and honest evidence status</dc:subject>
  <dc:creator>LearnLens team</dc:creator>
  <cp:keywords>education, misconception, retrieval, spaced retest, teacher dashboard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